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Our project studies daily gold futures with the complete ATSA workflow. We first build and evaluate the model in USD per troy ounce, then convert forecasts into rupees per gram for four purities. We will show measured results and limitations. The analysis snapshot ends October 26,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univariate time-series study with a demonstrable application. Success means correct preprocessing, a defensible evaluation and clear uncertainty. It does not require the most complex model to win. The Indian-price output estimates metal value, not a city-specific retail quote.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work explicitly to the supplied slide. EDA includes line plots, scatter plots, histograms, QQ plots and descriptive statistics. Residual diagnostics, baseline evaluation and optional GARCH extend the checklist. The walkthrough identifies exact notebook sections and output files for each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data/gold_daily.csv and PROVENANCE.md. The actual analysis uses real historical market observations. It is not Indian retail or MCX data. A rolling futures series can contain contract-roll effects, and current-session data may be provisional. FX is a separate dataset used for display conversion.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reads the default order from metadata and refits the selected model on its selected history. It does not use the saved pickle as its main forecasting path. The notebook provides a separate saved-model helper. SARIMA comparison and GARCH are notebook analyses; the interactive app uses ARIMA. GitHub publication is verified. The user confirmed Streamlit deployment on October 27, 2026; the exact production URL was not supplied for independent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fill carries the last known price; no future price is used. Generic Monday-Friday indexing includes exchange holidays and introduces some zero returns. The hold-out consists of regularised weekdays, not strictly 100 observed trading sessions. Random splitting would mix past and future. The grid is fitted on training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level and rolling mean from the saved chart. These descriptive statistics use the 2,971 source observations before weekday filling. Consecutive price levels can be highly correlated simply because both share a stochastic trend. That is not proof of an exploitable forecasting signal. Lag scatter plots are saved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QQ plot compares empirical return quantiles to normal quantiles. Tail departures suggest more extreme moves than the normal reference. Volatility is descriptive historical information, not a guaranteed future estimate. Normality failure matters especially for uncertainty assumptions; it does not automatically invalidate every point forecast.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ADF has a unit-root null; KPSS has a stationarity null. Small ADF and non-small KPSS support stationarity in this sample. ADF non-rejection does not prove a unit root. A printed zero is rounded, not a literally zero probability. KPSS reports tabulated bounds. Mean-process stationarity can coexist with changing conditional variance.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express proportional changes and keep inverse forecasts positive. First differences remove the integrated level. With p=q=0 this is a log random walk with drift. A mean on the price scale would require a distribution-appropriate bias correction, such as exp(mu+v/2) for Gaussian log uncertainty. The app reports the exponentiated location without that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252-day period approximates an annual business-day cycle rather than an exact calendar year. Classical decomposition imposes a periodic structure and uses centred calculations, so it is exploratory here. We did not evaluate every seasonal order or annual SARIMA. The actual forecasting competitor uses seasonal order (1,0,1,5).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finite-sample heuristics, not automatic proofs. Some spikes occur by chance across many inspected lags. AR and MA terms act on the differenced log process inside ARIMA. Moving-average innovation terms are not the same as a rolling mean. The squared-return plot concerns volatility rather than just mean predictability.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AIC is 2k minus twice log likelihood; BIC is k log n minus twice log likelihood. BIC penalises complexity more at this sample size. Negative scores are valid. The notebook keeps finite scores and does not persist a convergence flag for every candidate. Therefore do not claim 25 certified converged fits or an optimum over all possible ARIMA models.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Appending test observations with refit=False and obtaining one-step predictions updates model states with past observations while retaining training parameters. This differs from forecasting the whole test path at once. The reported RMSE comparison is one-step; do not call it 30-day-ahead RMSE. The separate fixed-origin chart addresses the harder multi-step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result directly. Naive has the lowest RMSE, while AIC ARIMA has slightly lower MAE/MAPE. Different metrics can rank models differently. BIC is a prespecified simple-model choice, not the hold-out RMSE winner. A non-small p-value fails to detect a loss difference; it does not prove equality or market efficiency. MAPE is not classification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single correlated path, not independent proof of interval calibration. Residual diagnostics use the training fit with the first initialisation residual removed. It would be false to say all assumptions passed. Longer-lag correlation, squared-residual dependence and non-normality limit strong adequacy claims. The nominal 95% bands depend on model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ARIMA models conditional mean; GARCH models changing conditional variance. Persistence near one indicates slow decay in the fitted variance process. The final band sums predicted daily variances and uses 1.96 around the ARIMA log forecast. It is not an exact Student-t interval or a jointly simulated ARIMA-GARCH system. The interactive app does not offer a GARCH engine.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saved October 26 analysis snapshot. A later live app can differ because of new data or the default ten-year app history versus the notebook start in 2015. It is not a contradiction. Demonstrate outputs/forecast_next_30_days.csv and explain the difference between a point median and an uncertainty interval.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Precious metals use a troy ounce, not the ordinary ounce. We use linked BIS fineness values: 22K=.916 rather than exactly 22/24 and 24K fine gold=.999 rather than exactly one. These are four purity scalings of one underlying forecast, not four independently trained models. Units and conversion assumptions are visible in the app.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displayed history is not an observed historical INR series. We would need date-aligned historical FX and future FX modelling to build that. At fixed USD gold prices a 10% rise in INR per USD scales every INR value by 10%, without changing native-model AIC/BIC. Location, premiums, taxes and making charges explain differences from a retail quote.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each effect before clicking. Purity scales the output but does not invent a new price pattern. Longer horizons create additional rows and generally broader uncertainty for the selected random walk. Changing history or order triggers a model change and can be slow. Show saved results at the end, including the naive baseline and failed diagnostic tests. Do not delete data to stage an outage.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ranges 3..15, horizon 5..60, p/q 0..5 and d 1 or 2. The compressed CSV lists all finite setting tuples. Continuous FX inputs, arbitrary upload contents, future observations and network conditions cannot be exhaustively enumerated. The scenario matrix selects useful boundary and operational cases. High-order combinations may fail or be impractical.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automatic test-based buttons. Examine trend specification, sample size, structural breaks and diagnostics. If AIC improves but hold-out RMSE worsens, complexity may not generalise. Repeatedly tuning to the same hold-out biases conclusions. The walkthrough includes decision tables, the complete order catalogue and professor Q&amp;A.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requirements file is the runtime stack; the inner file also includes notebook dependencies. File paths are anchored to app.py. The app is deployed on Streamlit Community Cloud according to the user. Temporary deployment buttons were removed after deployment. Use the actual production URL in the viva; no URL is invented here. The walkthrough maps functions to their actual behaviour.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completed work from future work. Proposed improvements include storing and filtering convergence outcomes, multiple rolling origins, horizon-specific accuracy, aligned FX and an exchange-aware calendar. Prophet, LSTM, annual SARIMA and exogenous regressors are not implemented and have no results in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contribution is a reproducible statistical workflow and an understandable application. We can demonstrate provenance, preprocessing, model selection, baseline evaluation and currency/purity arithmetic. Every team member should explain the code and actual contributions, and disclose AI assistance in line with faculty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d=1 the app uses trend t, giving drift in first differences. For d=2 it uses no deterministic trend. So d comparisons change both differencing and trend assumptions. d=0, seasonal order controls and GARCH selection are not offered in the app. The 72-order table records these rules.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labels distinguish verified UI checks from code-reviewed or planned scenarios. Required CSV columns are Date and Close; units must be USD per troy ounce. Invalid numeric and nonpositive prices are filtered; at least 100 valid observations are needed. Dates are sorted and duplicates keep the last. Fit warnings are not always hard failures.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MAPE is average relative error, not classification accuracy. Weak predictable structure and estimation error can make naive competitive. A new window, order, data date or FX setting changes the app output. Jewellery quotes include local/tax/product effects absent from a futures-derived metal estimate. Never turn these results into unsupported trading claims.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references are linked in the walkthrough. The course PDF states a GenAI allowance and citation expectations. The implementation and this pack used AI assistance. Do not claim unaided authorship or automatic compliance with a numerical policy limit. This is an educational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Gold Price Forecasting</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Applied Time Series Analysis | B.Tech AI Semester VII | 2026-27</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ARIMA / SARIMA analysis with an INR-per-gram application</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18K, 20K, 22K and 24K fine-gold estimates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Priyanshu Modak (I080) | Vishesh Dokania (I019) | Parth Zanwar (I074)</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The questions we investigated</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Can past prices support useful daily forecasts?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Does ARIMA or weekly SARIMA improve on tomorrow = today?</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How does uncertainty change with the forecast horizon?</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How can forecasts be displayed for Indian users?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All 11 required ATSA steps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1 Collection | 2 EDA | 3 Missing values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4 ADF/stationarity | 5 Transformations | 6 Seasonality</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7 ACF/PACF | 8 Model family | 9 Lags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10 AIC/BIC | 11 Streamlit deployment</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Real data and provenance</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Yahoo Finance GC=F: rolling COMEX gold futures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2,971 source rows | 02 Jan 2015 to 26 Oct 2026</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Native price: USD per troy ounce</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USD-INR source: INR=X; dated snapshot retained</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Architecture: analysis and application</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Notebook: collect -&gt; clean -&gt; analyse -&gt; select -&gt; evaluate</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Artifacts: charts, CSVs, fitted model and metadata</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App: fetch/cache -&gt; refit ARIMA -&gt; forecast -&gt; convert</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GitHub holds source; Streamlit provides hosting</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Cleaning and chronological split</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Sort/deduplicate; require positive numeric closes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Forward-fill 111 missing weekdays: 3.60%</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Regular series: 3,082 business weekdays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Train 2,982 through 08 Jun | Test 100 from 09 Jun 2026</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EDA: price levels and dependence</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Source mean: USD 1,966.46 per troy ounce</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Source-price standard deviation: USD 956.73</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Lagged prices move together; returns need separate study</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 rising price level alone does not establish predictability</a:t>
            </a:r>
          </a:p>
        </p:txBody>
      </p:sp>
      <p:pic>
        <p:nvPicPr>
          <p:cNvPr id="9" name="Picture 8" descr="01_line_plot.png"/>
          <p:cNvPicPr>
            <a:picLocks noChangeAspect="1"/>
          </p:cNvPicPr>
          <p:nvPr/>
        </p:nvPicPr>
        <p:blipFill>
          <a:blip r:embed="rId2"/>
          <a:stretch>
            <a:fillRect/>
          </a:stretch>
        </p:blipFill>
        <p:spPr>
          <a:xfrm>
            <a:off x="5486400" y="2818497"/>
            <a:ext cx="6263640" cy="2135405"/>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EDA: distribution and heavy tails</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Source-return excess kurtosis: 7.7843</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Jarque-Bera rejects normality; QQ tails depart</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Source-return annualised volatility: about 16.8%</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Heavy tails limit unqualified Gaussian interval claims</a:t>
            </a:r>
          </a:p>
        </p:txBody>
      </p:sp>
      <p:pic>
        <p:nvPicPr>
          <p:cNvPr id="9" name="Picture 8" descr="03_hist_qq.png"/>
          <p:cNvPicPr>
            <a:picLocks noChangeAspect="1"/>
          </p:cNvPicPr>
          <p:nvPr/>
        </p:nvPicPr>
        <p:blipFill>
          <a:blip r:embed="rId2"/>
          <a:stretch>
            <a:fillRect/>
          </a:stretch>
        </p:blipFill>
        <p:spPr>
          <a:xfrm>
            <a:off x="5486400" y="3025054"/>
            <a:ext cx="6263640" cy="1722290"/>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Stationarity: opposite null hypotheses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Price: ADF p=.9755; KPSS lower reported bound .01</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Log price: ADF p=.9897; KPSS lower bound .01</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Log return: ADF p about 6.83e-27; KPSS upper bound .10</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The sample supports first-differenced logs: d=1</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Transformation and selected equation</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z(t) = log(P(t)); r(t) = z(t) - z(t-1)</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ARIMA(p,1,q) models short-memory dynamics in r(t)</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Selected: z(t) = z(t-1) + drift + innovation</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exp(log forecast) is a conditional median</a:t>
            </a:r>
          </a:p>
        </p:txBody>
      </p:sp>
      <p:pic>
        <p:nvPicPr>
          <p:cNvPr id="9" name="Picture 8" descr="04_transformations.png"/>
          <p:cNvPicPr>
            <a:picLocks noChangeAspect="1"/>
          </p:cNvPicPr>
          <p:nvPr/>
        </p:nvPicPr>
        <p:blipFill>
          <a:blip r:embed="rId2"/>
          <a:stretch>
            <a:fillRect/>
          </a:stretch>
        </p:blipFill>
        <p:spPr>
          <a:xfrm>
            <a:off x="5486400" y="1807682"/>
            <a:ext cx="6263640" cy="4157034"/>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Seasonality: examine rather than assume</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Strength: 5 days .0002 | 21 days .0084</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252-business-day strength: .1747</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Annual decomposition is descriptive evidence only</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 weekly SARIMA competitor is evaluated</a:t>
            </a:r>
          </a:p>
        </p:txBody>
      </p:sp>
      <p:pic>
        <p:nvPicPr>
          <p:cNvPr id="9" name="Picture 8" descr="05_decomposition.png"/>
          <p:cNvPicPr>
            <a:picLocks noChangeAspect="1"/>
          </p:cNvPicPr>
          <p:nvPr/>
        </p:nvPicPr>
        <p:blipFill>
          <a:blip r:embed="rId2"/>
          <a:stretch>
            <a:fillRect/>
          </a:stretch>
        </p:blipFill>
        <p:spPr>
          <a:xfrm>
            <a:off x="5486400" y="1746240"/>
            <a:ext cx="6263640" cy="4279919"/>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ACF/PACF and model identification</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AR: PACF cutoff; ACF usually decays</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MA: ACF cutoff; PACF usually decays</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ARMA: both decay; seasonal spikes motivate SARIMA</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Squared-return dependence motivates variance analysis</a:t>
            </a:r>
          </a:p>
        </p:txBody>
      </p:sp>
      <p:pic>
        <p:nvPicPr>
          <p:cNvPr id="9" name="Picture 8" descr="07_acf_pacf.png"/>
          <p:cNvPicPr>
            <a:picLocks noChangeAspect="1"/>
          </p:cNvPicPr>
          <p:nvPr/>
        </p:nvPicPr>
        <p:blipFill>
          <a:blip r:embed="rId2"/>
          <a:stretch>
            <a:fillRect/>
          </a:stretch>
        </p:blipFill>
        <p:spPr>
          <a:xfrm>
            <a:off x="5486400" y="2211793"/>
            <a:ext cx="6263640" cy="3348812"/>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The recorded 25-model search</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p=0..4; d=1; q=0..4 -&gt; 25 candidate orders</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Same training log-price series; drift in every candidate</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AIC selects (1,1,4); BIC selects (0,1,0)</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Convergence warnings occurred: rankings need a caveat</a:t>
            </a:r>
          </a:p>
        </p:txBody>
      </p:sp>
      <p:pic>
        <p:nvPicPr>
          <p:cNvPr id="9" name="Picture 8" descr="08_aic_bic_heatmap.png"/>
          <p:cNvPicPr>
            <a:picLocks noChangeAspect="1"/>
          </p:cNvPicPr>
          <p:nvPr/>
        </p:nvPicPr>
        <p:blipFill>
          <a:blip r:embed="rId2"/>
          <a:stretch>
            <a:fillRect/>
          </a:stretch>
        </p:blipFill>
        <p:spPr>
          <a:xfrm>
            <a:off x="5486400" y="2530108"/>
            <a:ext cx="6263640" cy="2712182"/>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Two evaluation designs</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One-step: forecast, then observe for later predictions</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Model parameters stay fixed during hold-out updates</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Fixed-origin: forecast 100 dates with no test updates</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The app refits available history and forecasts 5..60 weekdays</a:t>
            </a:r>
          </a:p>
        </p:txBody>
      </p:sp>
      <p:pic>
        <p:nvPicPr>
          <p:cNvPr id="9" name="Picture 8" descr="09_test_forecasts.png"/>
          <p:cNvPicPr>
            <a:picLocks noChangeAspect="1"/>
          </p:cNvPicPr>
          <p:nvPr/>
        </p:nvPicPr>
        <p:blipFill>
          <a:blip r:embed="rId2"/>
          <a:stretch>
            <a:fillRect/>
          </a:stretch>
        </p:blipFill>
        <p:spPr>
          <a:xfrm>
            <a:off x="5486400" y="2645456"/>
            <a:ext cx="6263640" cy="2481487"/>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Measured performance: naive wins RMSE</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Naive 60.5337 | BIC ARIMA 60.6723 USD/oz</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AIC ARIMA 60.6684 | SARIMA 60.6085 USD/oz</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BIC MAPE 1.0778%; directional agreement 49%</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HAC loss-difference p=.4639: BIC ARIMA vs naive</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Intervals and residual diagnostics</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Fixed-origin 100-day interval coverage: 94/100</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Residual Ljung-Box p=.08397 at lag 10; .000589 at lag 20</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ARCH-LM p about 6.28e-45; normality rejected</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Longer-lag dependence and changing variance remain</a:t>
            </a:r>
          </a:p>
        </p:txBody>
      </p:sp>
      <p:pic>
        <p:nvPicPr>
          <p:cNvPr id="9" name="Picture 8" descr="10_multistep_forecast.png"/>
          <p:cNvPicPr>
            <a:picLocks noChangeAspect="1"/>
          </p:cNvPicPr>
          <p:nvPr/>
        </p:nvPicPr>
        <p:blipFill>
          <a:blip r:embed="rId2"/>
          <a:stretch>
            <a:fillRect/>
          </a:stretch>
        </p:blipFill>
        <p:spPr>
          <a:xfrm>
            <a:off x="5486400" y="2645456"/>
            <a:ext cx="6263640" cy="2481487"/>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Optional GARCH volatility extension</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Variance = omega + alpha*past shock^2 + beta*past variance</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Training alpha=.0359; beta=.9583; sum=.9942</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Student-t innovations fitted to percentage log returns</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Final normal-quantile bands remain approximate</a:t>
            </a:r>
          </a:p>
        </p:txBody>
      </p:sp>
      <p:pic>
        <p:nvPicPr>
          <p:cNvPr id="9" name="Picture 8" descr="12_garch_volatility.png"/>
          <p:cNvPicPr>
            <a:picLocks noChangeAspect="1"/>
          </p:cNvPicPr>
          <p:nvPr/>
        </p:nvPicPr>
        <p:blipFill>
          <a:blip r:embed="rId2"/>
          <a:stretch>
            <a:fillRect/>
          </a:stretch>
        </p:blipFill>
        <p:spPr>
          <a:xfrm>
            <a:off x="5486400" y="2914195"/>
            <a:ext cx="6263640" cy="1944009"/>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Final saved forecast</a:t>
            </a:r>
          </a:p>
        </p:txBody>
      </p:sp>
      <p:sp>
        <p:nvSpPr>
          <p:cNvPr id="5" name="TextBox 4"/>
          <p:cNvSpPr txBox="1"/>
          <p:nvPr/>
        </p:nvSpPr>
        <p:spPr>
          <a:xfrm>
            <a:off x="594360" y="1828800"/>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Selected ARIMA refitted on all 3,082 observations</a:t>
            </a:r>
          </a:p>
        </p:txBody>
      </p:sp>
      <p:sp>
        <p:nvSpPr>
          <p:cNvPr id="6" name="TextBox 5"/>
          <p:cNvSpPr txBox="1"/>
          <p:nvPr/>
        </p:nvSpPr>
        <p:spPr>
          <a:xfrm>
            <a:off x="594360" y="2816352"/>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30-business-day snapshot saved as a forecast CSV</a:t>
            </a:r>
          </a:p>
        </p:txBody>
      </p:sp>
      <p:sp>
        <p:nvSpPr>
          <p:cNvPr id="7" name="TextBox 6"/>
          <p:cNvSpPr txBox="1"/>
          <p:nvPr/>
        </p:nvSpPr>
        <p:spPr>
          <a:xfrm>
            <a:off x="594360" y="3803904"/>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27 Oct 2026 median: USD 4,039.29 per troy ounce</a:t>
            </a:r>
          </a:p>
        </p:txBody>
      </p:sp>
      <p:sp>
        <p:nvSpPr>
          <p:cNvPr id="8" name="TextBox 7"/>
          <p:cNvSpPr txBox="1"/>
          <p:nvPr/>
        </p:nvSpPr>
        <p:spPr>
          <a:xfrm>
            <a:off x="594360" y="4791456"/>
            <a:ext cx="4572000" cy="941832"/>
          </a:xfrm>
          <a:prstGeom prst="rect">
            <a:avLst/>
          </a:prstGeom>
          <a:noFill/>
        </p:spPr>
        <p:txBody>
          <a:bodyPr wrap="square" lIns="0" tIns="0">
            <a:spAutoFit/>
          </a:bodyPr>
          <a:lstStyle/>
          <a:p>
            <a:pPr>
              <a:spcAft>
                <a:spcPts val="800"/>
              </a:spcAft>
              <a:defRPr sz="1800" b="0">
                <a:solidFill>
                  <a:srgbClr val="263448"/>
                </a:solidFill>
                <a:latin typeface="Aptos"/>
              </a:defRPr>
            </a:pPr>
            <a:r>
              <a:t>• ARIMA interval: USD 3,957.84 to 4,122.41</a:t>
            </a:r>
          </a:p>
        </p:txBody>
      </p:sp>
      <p:pic>
        <p:nvPicPr>
          <p:cNvPr id="9" name="Picture 8" descr="13_final_forecast.png"/>
          <p:cNvPicPr>
            <a:picLocks noChangeAspect="1"/>
          </p:cNvPicPr>
          <p:nvPr/>
        </p:nvPicPr>
        <p:blipFill>
          <a:blip r:embed="rId2"/>
          <a:stretch>
            <a:fillRect/>
          </a:stretch>
        </p:blipFill>
        <p:spPr>
          <a:xfrm>
            <a:off x="5486400" y="2596937"/>
            <a:ext cx="6263640" cy="2578525"/>
          </a:xfrm>
          <a:prstGeom prst="rect">
            <a:avLst/>
          </a:prstGeom>
        </p:spPr>
      </p:pic>
      <p:sp>
        <p:nvSpPr>
          <p:cNvPr id="10" name="TextBox 9"/>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1" name="TextBox 10"/>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INR per gram and all four karats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INR/g = USD/oz x INR/USD / 31.1034768 x fineness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18K .750 | 20K .833 | 22K .916 | 24K .999</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Dated automatic FX or a positive manual override</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Same factor scales history, median and both bounds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What the Indian-price display means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Selected FX is held fixed for all future dates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History is revalued at that same selected rate</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Future FX risk, GST, duties and making charges excluded</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Metal-value estimates are not jewellery-shop quotations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Professor demo: deliberate actions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Start 24K, 30 weekdays, ARIMA(0,1,0)</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Switch 22K -&gt; 20K -&gt; 18K; inspect comparison table</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Compare horizons 5 and 60; change FX and order</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Export CSVs; explain valid upload and real-data fallback</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All finite setting combinations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4 karats x 13 history values x 56 horizons x 72 orders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72 orders = 6 p choices x 2 d choices x 6 q choices</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209,664 discrete tuples are fully enumerated</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Enumeration is not 209,664 executed model fits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Decision combinations and evidence</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ADF rejects + KPSS does not: stationarity supported</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ADF does not reject + KPSS rejects: investigate differencing</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Both reject or neither rejects: evidence is inconclusive</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ARCH rejection: inspect variance, not just mean dynamics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Code walkthrough and deployment</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streamlit_app.py: root cloud entry point</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app.py: loaders -&gt; ARIMA -&gt; INR conversion -&gt; exports</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run_analysis.py and make_report.py: analysis/report generation</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Public GitHub source; Streamlit deployment confirmed by user</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Limitations and next steps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No demonstrated RMSE advantage over naive</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Convergence flags and rolling-origin checks need improvement</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No forecast of FX, interest rates, inflation or news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Next: aligned INR target, trading calendar, calibrated intervals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MAIN PRESENTATION</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Conclusion and handover</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Complete ATSA workflow on preserved real market data</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d=1 supported; BIC favours a drifted random walk</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Measured errors and diagnostic failures reported honestly</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Working INR/g app with four purity views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BACKUP / VIVA</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Backup: order families and trend rules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(0,1,0): random walk with log drift</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(p,1,0): AR in differences | (0,1,q): MA in differences</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(p,1,q): ARMA in first-differenced log prices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App d=2 is available; its deterministic trend is n</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BACKUP / VIVA</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Backup: failure and fallback combinations</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Gold live fails + real cache: labelled cached prices</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FX live fails + snapshot: dated saved exchange rate</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No FX source: require a positive manual rate</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Bad CSV / insufficient data: stop rather than fabricate</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BACKUP / VIVA</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Backup: four questions to answer precisely</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Does 1.1% MAPE mean 98.9% accuracy?</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Why can naive outperform fitted ARIMA?</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Why does the app differ from the notebook?</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Why is a 24K result different from a jeweller quote?</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B68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11247120" cy="320040"/>
          </a:xfrm>
          <a:prstGeom prst="rect">
            <a:avLst/>
          </a:prstGeom>
          <a:noFill/>
        </p:spPr>
        <p:txBody>
          <a:bodyPr wrap="square" lIns="0" tIns="0">
            <a:spAutoFit/>
          </a:bodyPr>
          <a:lstStyle/>
          <a:p>
            <a:pPr>
              <a:spcAft>
                <a:spcPts val="800"/>
              </a:spcAft>
              <a:defRPr sz="1100" b="1">
                <a:solidFill>
                  <a:srgbClr val="B68A32"/>
                </a:solidFill>
                <a:latin typeface="Aptos"/>
              </a:defRPr>
            </a:pPr>
            <a:r>
              <a:t>REFERENCES</a:t>
            </a:r>
          </a:p>
        </p:txBody>
      </p:sp>
      <p:sp>
        <p:nvSpPr>
          <p:cNvPr id="4" name="TextBox 3"/>
          <p:cNvSpPr txBox="1"/>
          <p:nvPr/>
        </p:nvSpPr>
        <p:spPr>
          <a:xfrm>
            <a:off x="457200" y="777240"/>
            <a:ext cx="11247120" cy="777240"/>
          </a:xfrm>
          <a:prstGeom prst="rect">
            <a:avLst/>
          </a:prstGeom>
          <a:noFill/>
        </p:spPr>
        <p:txBody>
          <a:bodyPr wrap="square" lIns="0" tIns="0">
            <a:spAutoFit/>
          </a:bodyPr>
          <a:lstStyle/>
          <a:p>
            <a:pPr>
              <a:spcAft>
                <a:spcPts val="800"/>
              </a:spcAft>
              <a:defRPr sz="3000" b="1">
                <a:solidFill>
                  <a:srgbClr val="14283F"/>
                </a:solidFill>
                <a:latin typeface="Aptos"/>
              </a:defRPr>
            </a:pPr>
            <a:r>
              <a:t>References and assistance disclosure</a:t>
            </a:r>
          </a:p>
        </p:txBody>
      </p:sp>
      <p:sp>
        <p:nvSpPr>
          <p:cNvPr id="5" name="TextBox 4"/>
          <p:cNvSpPr txBox="1"/>
          <p:nvPr/>
        </p:nvSpPr>
        <p:spPr>
          <a:xfrm>
            <a:off x="594360" y="1828800"/>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Yahoo Finance GC=F and INR=X; source dates disclosed</a:t>
            </a:r>
          </a:p>
        </p:txBody>
      </p:sp>
      <p:sp>
        <p:nvSpPr>
          <p:cNvPr id="6" name="TextBox 5"/>
          <p:cNvSpPr txBox="1"/>
          <p:nvPr/>
        </p:nvSpPr>
        <p:spPr>
          <a:xfrm>
            <a:off x="594360" y="2816352"/>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statsmodels, arch and Forecasting: Principles and Practice</a:t>
            </a:r>
          </a:p>
        </p:txBody>
      </p:sp>
      <p:sp>
        <p:nvSpPr>
          <p:cNvPr id="7" name="TextBox 6"/>
          <p:cNvSpPr txBox="1"/>
          <p:nvPr/>
        </p:nvSpPr>
        <p:spPr>
          <a:xfrm>
            <a:off x="594360" y="3803904"/>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NIST conversion and BIS fineness grades</a:t>
            </a:r>
          </a:p>
        </p:txBody>
      </p:sp>
      <p:sp>
        <p:nvSpPr>
          <p:cNvPr id="8" name="TextBox 7"/>
          <p:cNvSpPr txBox="1"/>
          <p:nvPr/>
        </p:nvSpPr>
        <p:spPr>
          <a:xfrm>
            <a:off x="594360" y="4791456"/>
            <a:ext cx="10881360" cy="941832"/>
          </a:xfrm>
          <a:prstGeom prst="rect">
            <a:avLst/>
          </a:prstGeom>
          <a:noFill/>
        </p:spPr>
        <p:txBody>
          <a:bodyPr wrap="square" lIns="0" tIns="0">
            <a:spAutoFit/>
          </a:bodyPr>
          <a:lstStyle/>
          <a:p>
            <a:pPr>
              <a:spcAft>
                <a:spcPts val="800"/>
              </a:spcAft>
              <a:defRPr sz="2200" b="0">
                <a:solidFill>
                  <a:srgbClr val="263448"/>
                </a:solidFill>
                <a:latin typeface="Aptos"/>
              </a:defRPr>
            </a:pPr>
            <a:r>
              <a:t>• AI-assisted implementation; state actual team contributions</a:t>
            </a:r>
          </a:p>
        </p:txBody>
      </p:sp>
      <p:sp>
        <p:nvSpPr>
          <p:cNvPr id="9" name="TextBox 8"/>
          <p:cNvSpPr txBox="1"/>
          <p:nvPr/>
        </p:nvSpPr>
        <p:spPr>
          <a:xfrm>
            <a:off x="457200" y="6428232"/>
            <a:ext cx="10058400" cy="228600"/>
          </a:xfrm>
          <a:prstGeom prst="rect">
            <a:avLst/>
          </a:prstGeom>
          <a:noFill/>
        </p:spPr>
        <p:txBody>
          <a:bodyPr wrap="square" lIns="0" tIns="0">
            <a:spAutoFit/>
          </a:bodyPr>
          <a:lstStyle/>
          <a:p>
            <a:pPr>
              <a:spcAft>
                <a:spcPts val="800"/>
              </a:spcAft>
              <a:defRPr sz="1000" b="0">
                <a:solidFill>
                  <a:srgbClr val="65758A"/>
                </a:solidFill>
                <a:latin typeface="Aptos"/>
              </a:defRPr>
            </a:pPr>
            <a:r>
              <a:t>ATSA | Gold Price Forecasting | Saved analysis: 26 Oct 2026</a:t>
            </a:r>
          </a:p>
        </p:txBody>
      </p:sp>
      <p:sp>
        <p:nvSpPr>
          <p:cNvPr id="10" name="TextBox 9"/>
          <p:cNvSpPr txBox="1"/>
          <p:nvPr/>
        </p:nvSpPr>
        <p:spPr>
          <a:xfrm>
            <a:off x="11155680" y="6428232"/>
            <a:ext cx="594360" cy="228600"/>
          </a:xfrm>
          <a:prstGeom prst="rect">
            <a:avLst/>
          </a:prstGeom>
          <a:noFill/>
        </p:spPr>
        <p:txBody>
          <a:bodyPr wrap="square" lIns="0" tIns="0">
            <a:spAutoFit/>
          </a:bodyPr>
          <a:lstStyle/>
          <a:p>
            <a:pPr>
              <a:spcAft>
                <a:spcPts val="800"/>
              </a:spcAft>
              <a:defRPr sz="1100" b="1">
                <a:solidFill>
                  <a:srgbClr val="B68A32"/>
                </a:solidFill>
                <a:latin typeface="Aptos"/>
              </a:defRPr>
            </a:pPr>
            <a: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